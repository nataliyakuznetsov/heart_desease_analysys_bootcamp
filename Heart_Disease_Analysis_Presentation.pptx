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6" r:id="rId1"/>
  </p:sldMasterIdLst>
  <p:sldIdLst>
    <p:sldId id="256" r:id="rId2"/>
    <p:sldId id="257" r:id="rId3"/>
    <p:sldId id="258" r:id="rId4"/>
    <p:sldId id="260" r:id="rId5"/>
    <p:sldId id="261" r:id="rId6"/>
    <p:sldId id="266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82" y="4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673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11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5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661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765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2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93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049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68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9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91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61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45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140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20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950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14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05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314451"/>
            <a:ext cx="4607567" cy="1092200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bg1"/>
                </a:solidFill>
              </a:rPr>
              <a:t>Heart Disease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D1C782-C02C-ABD1-3415-B931F89956DD}"/>
              </a:ext>
            </a:extLst>
          </p:cNvPr>
          <p:cNvSpPr txBox="1"/>
          <p:nvPr/>
        </p:nvSpPr>
        <p:spPr>
          <a:xfrm>
            <a:off x="699147" y="5886207"/>
            <a:ext cx="8164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Python   ◦   Panda   ◦   NumPy   ◦   SciPy   ◦   Matplotlib   ◦   Seaborn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95B117-C729-41F9-4102-B1E2299FD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4000"/>
                    </a14:imgEffect>
                  </a14:imgLayer>
                </a14:imgProps>
              </a:ext>
            </a:extLst>
          </a:blip>
          <a:srcRect l="30595" t="8804" r="30833"/>
          <a:stretch>
            <a:fillRect/>
          </a:stretch>
        </p:blipFill>
        <p:spPr>
          <a:xfrm>
            <a:off x="5018314" y="827314"/>
            <a:ext cx="3845615" cy="4594545"/>
          </a:xfrm>
          <a:prstGeom prst="ellipse">
            <a:avLst/>
          </a:prstGeom>
          <a:ln w="3175" cap="rnd">
            <a:solidFill>
              <a:schemeClr val="accent1">
                <a:lumMod val="5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E8DFE96-7F72-CFA5-CFDA-95359C86F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" y="2447776"/>
            <a:ext cx="7772400" cy="262587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Applied Data Science with Python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 Codecademy Bootcamp 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EB6F8E9-4C25-16B9-6A23-BF396544CB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19" t="4536" r="31916" b="13920"/>
          <a:stretch>
            <a:fillRect/>
          </a:stretch>
        </p:blipFill>
        <p:spPr bwMode="auto">
          <a:xfrm>
            <a:off x="5121918" y="602461"/>
            <a:ext cx="3592833" cy="4196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6370" y="681136"/>
            <a:ext cx="3638796" cy="160812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Project Objective</a:t>
            </a:r>
          </a:p>
        </p:txBody>
      </p:sp>
      <p:pic>
        <p:nvPicPr>
          <p:cNvPr id="5" name="Picture 4" descr="Heartshaped platelets suspended in the air">
            <a:extLst>
              <a:ext uri="{FF2B5EF4-FFF2-40B4-BE49-F238E27FC236}">
                <a16:creationId xmlns:a16="http://schemas.microsoft.com/office/drawing/2014/main" id="{DE5464FD-97ED-30B4-AAE3-AA85837A07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604" r="15392"/>
          <a:stretch>
            <a:fillRect/>
          </a:stretch>
        </p:blipFill>
        <p:spPr>
          <a:xfrm>
            <a:off x="0" y="975"/>
            <a:ext cx="4938086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6369" y="1914130"/>
            <a:ext cx="3638795" cy="397223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Identify factors associated with heart disease</a:t>
            </a:r>
          </a:p>
          <a:p>
            <a:r>
              <a:rPr lang="en-US" sz="2400" dirty="0">
                <a:solidFill>
                  <a:schemeClr val="bg1"/>
                </a:solidFill>
              </a:rPr>
              <a:t>Using statistical hypothesis testing and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98074"/>
            <a:ext cx="7772400" cy="3893128"/>
          </a:xfrm>
        </p:spPr>
        <p:txBody>
          <a:bodyPr>
            <a:normAutofit/>
          </a:bodyPr>
          <a:lstStyle/>
          <a:p>
            <a:r>
              <a:rPr sz="2400" dirty="0">
                <a:solidFill>
                  <a:schemeClr val="bg1"/>
                </a:solidFill>
              </a:rPr>
              <a:t>303 patients</a:t>
            </a:r>
            <a:r>
              <a:rPr lang="en-US" sz="2400" dirty="0">
                <a:solidFill>
                  <a:schemeClr val="bg1"/>
                </a:solidFill>
              </a:rPr>
              <a:t> records from the Cleveland Clinic Foundation</a:t>
            </a:r>
            <a:endParaRPr sz="2400" dirty="0">
              <a:solidFill>
                <a:schemeClr val="bg1"/>
              </a:solidFill>
            </a:endParaRPr>
          </a:p>
          <a:p>
            <a:r>
              <a:rPr sz="2400" dirty="0">
                <a:solidFill>
                  <a:schemeClr val="bg1"/>
                </a:solidFill>
              </a:rPr>
              <a:t>Clinical, demographic, and exercise-related variables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122" y="1651198"/>
            <a:ext cx="4236878" cy="636155"/>
          </a:xfrm>
        </p:spPr>
        <p:txBody>
          <a:bodyPr anchor="b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Key Findings - Symptoms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476" y="2700087"/>
            <a:ext cx="4236878" cy="2043813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Chest pain type is a major diagnostic indicator</a:t>
            </a:r>
          </a:p>
          <a:p>
            <a:r>
              <a:rPr lang="en-US" sz="2400" dirty="0">
                <a:solidFill>
                  <a:schemeClr val="bg1"/>
                </a:solidFill>
              </a:rPr>
              <a:t>Exercise-induced angina signals higher risk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EFAA43-EFD5-9375-5D15-143AED4D6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354" y="1668517"/>
            <a:ext cx="3905249" cy="3075383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Key Findings </a:t>
            </a:r>
            <a:r>
              <a:rPr lang="en-US" b="1" dirty="0">
                <a:solidFill>
                  <a:schemeClr val="bg1"/>
                </a:solidFill>
              </a:rPr>
              <a:t>-</a:t>
            </a:r>
            <a:r>
              <a:rPr b="1" dirty="0">
                <a:solidFill>
                  <a:schemeClr val="bg1"/>
                </a:solidFill>
              </a:rPr>
              <a:t> Metabolic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3936"/>
            <a:ext cx="7772400" cy="1456268"/>
          </a:xfrm>
        </p:spPr>
        <p:txBody>
          <a:bodyPr>
            <a:normAutofit/>
          </a:bodyPr>
          <a:lstStyle/>
          <a:p>
            <a:r>
              <a:rPr sz="2400" dirty="0">
                <a:solidFill>
                  <a:schemeClr val="bg1"/>
                </a:solidFill>
              </a:rPr>
              <a:t>Elevated cholesterol </a:t>
            </a:r>
            <a:r>
              <a:rPr lang="en-US" sz="2400" dirty="0">
                <a:solidFill>
                  <a:schemeClr val="bg1"/>
                </a:solidFill>
              </a:rPr>
              <a:t>and fasting blood sugar are</a:t>
            </a:r>
            <a:r>
              <a:rPr sz="2400" dirty="0">
                <a:solidFill>
                  <a:schemeClr val="bg1"/>
                </a:solidFill>
              </a:rPr>
              <a:t> more common in heart disease patients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B04A92-7F6C-1300-F570-258EB2D1F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925" y="2870204"/>
            <a:ext cx="4634039" cy="34507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63937-EFBE-7459-9096-067B325E6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Exercise performance &amp; heart disease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52BD77-FA8D-A596-11BC-394BA19AA60C}"/>
              </a:ext>
            </a:extLst>
          </p:cNvPr>
          <p:cNvSpPr txBox="1">
            <a:spLocks/>
          </p:cNvSpPr>
          <p:nvPr/>
        </p:nvSpPr>
        <p:spPr>
          <a:xfrm>
            <a:off x="457200" y="2065868"/>
            <a:ext cx="4493640" cy="3642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</a:rPr>
              <a:t>Patients with heart disease have </a:t>
            </a:r>
            <a:r>
              <a:rPr lang="en-US" sz="2400" b="1" dirty="0">
                <a:solidFill>
                  <a:schemeClr val="bg1"/>
                </a:solidFill>
              </a:rPr>
              <a:t>significantly lower max heart rates</a:t>
            </a:r>
            <a:r>
              <a:rPr lang="en-US" sz="2400" dirty="0">
                <a:solidFill>
                  <a:schemeClr val="bg1"/>
                </a:solidFill>
              </a:rPr>
              <a:t> than those without heart disease</a:t>
            </a:r>
          </a:p>
          <a:p>
            <a:r>
              <a:rPr lang="en-US" sz="2400" dirty="0">
                <a:solidFill>
                  <a:schemeClr val="bg1"/>
                </a:solidFill>
              </a:rPr>
              <a:t>Indicates a strong association between heart disease and exercise-related heart response</a:t>
            </a:r>
            <a:r>
              <a:rPr lang="en-US" sz="2600" dirty="0"/>
              <a:t>.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B26734-9154-D45D-EDE3-FCB32A758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840" y="2253918"/>
            <a:ext cx="3917534" cy="277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43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Methods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Tests: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		- </a:t>
            </a:r>
            <a:r>
              <a:rPr sz="2400" dirty="0">
                <a:solidFill>
                  <a:schemeClr val="bg1"/>
                </a:solidFill>
              </a:rPr>
              <a:t>t-tests, </a:t>
            </a:r>
            <a:r>
              <a:rPr lang="en-US" sz="2400" dirty="0">
                <a:solidFill>
                  <a:schemeClr val="bg1"/>
                </a:solidFill>
              </a:rPr>
              <a:t>Binomial test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		- </a:t>
            </a:r>
            <a:r>
              <a:rPr sz="2400" dirty="0">
                <a:solidFill>
                  <a:schemeClr val="bg1"/>
                </a:solidFill>
              </a:rPr>
              <a:t>Chi-square tests, </a:t>
            </a:r>
            <a:r>
              <a:rPr lang="en-US" sz="2400" dirty="0">
                <a:solidFill>
                  <a:schemeClr val="bg1"/>
                </a:solidFill>
              </a:rPr>
              <a:t>one-way </a:t>
            </a:r>
            <a:r>
              <a:rPr sz="2400" dirty="0">
                <a:solidFill>
                  <a:schemeClr val="bg1"/>
                </a:solidFill>
              </a:rPr>
              <a:t>ANOVA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		- Tukey’s HSD post-hoc test</a:t>
            </a:r>
            <a:endParaRPr sz="2400" dirty="0">
              <a:solidFill>
                <a:schemeClr val="bg1"/>
              </a:solidFill>
            </a:endParaRPr>
          </a:p>
          <a:p>
            <a:r>
              <a:rPr sz="2400" b="1" dirty="0">
                <a:solidFill>
                  <a:schemeClr val="bg1"/>
                </a:solidFill>
              </a:rPr>
              <a:t>Data visualization </a:t>
            </a:r>
            <a:r>
              <a:rPr lang="en-US" sz="2400" b="1" dirty="0">
                <a:solidFill>
                  <a:schemeClr val="bg1"/>
                </a:solidFill>
              </a:rPr>
              <a:t>Methods: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		</a:t>
            </a:r>
            <a:r>
              <a:rPr lang="en-US" sz="2400" dirty="0"/>
              <a:t>  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bg1"/>
                </a:solidFill>
              </a:rPr>
              <a:t>Box plots (Seaborn)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		 - Stacked bar charts (Matplotlib / Pandas)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		 - Side-by-side categorical plots</a:t>
            </a:r>
            <a:endParaRPr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0AD60-FB73-050D-C2DE-03A360AD00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00"/>
                    </a14:imgEffect>
                  </a14:imgLayer>
                </a14:imgProps>
              </a:ext>
            </a:extLst>
          </a:blip>
          <a:srcRect r="31179"/>
          <a:stretch>
            <a:fillRect/>
          </a:stretch>
        </p:blipFill>
        <p:spPr>
          <a:xfrm rot="959361">
            <a:off x="4352568" y="-474305"/>
            <a:ext cx="5591706" cy="52811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074263-29CB-ED7D-FEE8-AA7758CB11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00"/>
                    </a14:imgEffect>
                  </a14:imgLayer>
                </a14:imgProps>
              </a:ext>
            </a:extLst>
          </a:blip>
          <a:srcRect r="29491" b="45476"/>
          <a:stretch>
            <a:fillRect/>
          </a:stretch>
        </p:blipFill>
        <p:spPr>
          <a:xfrm rot="995915">
            <a:off x="3140043" y="4457463"/>
            <a:ext cx="6123648" cy="34095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solidFill>
                  <a:schemeClr val="bg1"/>
                </a:solidFill>
              </a:rPr>
              <a:t>Combining </a:t>
            </a:r>
            <a:r>
              <a:rPr lang="en-US" sz="2400" dirty="0">
                <a:solidFill>
                  <a:schemeClr val="bg1"/>
                </a:solidFill>
              </a:rPr>
              <a:t>clinical </a:t>
            </a:r>
            <a:r>
              <a:rPr sz="2400" dirty="0">
                <a:solidFill>
                  <a:schemeClr val="bg1"/>
                </a:solidFill>
              </a:rPr>
              <a:t>symptoms, exercise data, and metabolic indicators improves heart disease risk assessment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1389" y="2700866"/>
            <a:ext cx="3241222" cy="145626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Thank You !!!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162</TotalTime>
  <Words>196</Words>
  <Application>Microsoft Office PowerPoint</Application>
  <PresentationFormat>On-screen Show (4:3)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Celestial</vt:lpstr>
      <vt:lpstr>Heart Disease Analysis</vt:lpstr>
      <vt:lpstr>Project Objective</vt:lpstr>
      <vt:lpstr>Dataset Overview</vt:lpstr>
      <vt:lpstr>Key Findings - Symptoms</vt:lpstr>
      <vt:lpstr>Key Findings - Metabolic</vt:lpstr>
      <vt:lpstr>Exercise performance &amp; heart disease</vt:lpstr>
      <vt:lpstr>Methods Used</vt:lpstr>
      <vt:lpstr>Conclusion</vt:lpstr>
      <vt:lpstr>Thank You !!!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Natalia T.</dc:creator>
  <cp:keywords/>
  <dc:description>generated using python-pptx</dc:description>
  <cp:lastModifiedBy>Natalia T.</cp:lastModifiedBy>
  <cp:revision>4</cp:revision>
  <dcterms:created xsi:type="dcterms:W3CDTF">2013-01-27T09:14:16Z</dcterms:created>
  <dcterms:modified xsi:type="dcterms:W3CDTF">2026-01-03T15:51:39Z</dcterms:modified>
  <cp:category/>
</cp:coreProperties>
</file>